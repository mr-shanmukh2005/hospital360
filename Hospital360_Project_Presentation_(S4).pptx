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9cdf97563f4e96" /><Relationship Type="http://schemas.openxmlformats.org/officeDocument/2006/relationships/extended-properties" Target="/docProps/app.xml" Id="Rfad9f706c5654278" /><Relationship Type="http://schemas.openxmlformats.org/officeDocument/2006/relationships/officeDocument" Target="/ppt/presentation.xml" Id="Re35d36d5dc4145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33ff67008e94457"/>
  </p:sldMasterIdLst>
  <p:notesMasterIdLst>
    <p:notesMasterId xmlns:r="http://schemas.openxmlformats.org/officeDocument/2006/relationships" r:id="R17def398df2a4e5d"/>
  </p:notesMasterIdLst>
  <p:sldIdLst>
    <p:sldId xmlns:r="http://schemas.openxmlformats.org/officeDocument/2006/relationships" id="256" r:id="Rfb124eb959774a3b"/>
    <p:sldId xmlns:r="http://schemas.openxmlformats.org/officeDocument/2006/relationships" id="257" r:id="R29dc2b65b8a4459e"/>
    <p:sldId xmlns:r="http://schemas.openxmlformats.org/officeDocument/2006/relationships" id="258" r:id="Rf287b17a45b2496b"/>
    <p:sldId xmlns:r="http://schemas.openxmlformats.org/officeDocument/2006/relationships" id="259" r:id="Rba41de5e00954b98"/>
    <p:sldId xmlns:r="http://schemas.openxmlformats.org/officeDocument/2006/relationships" id="260" r:id="R925ab21d11d24b95"/>
    <p:sldId xmlns:r="http://schemas.openxmlformats.org/officeDocument/2006/relationships" id="261" r:id="R86461ec09d2d4625"/>
    <p:sldId xmlns:r="http://schemas.openxmlformats.org/officeDocument/2006/relationships" id="262" r:id="Ree045bd9c21f481d"/>
    <p:sldId xmlns:r="http://schemas.openxmlformats.org/officeDocument/2006/relationships" id="263" r:id="Rcf5d9151d8a04883"/>
    <p:sldId xmlns:r="http://schemas.openxmlformats.org/officeDocument/2006/relationships" id="264" r:id="R126a707be3ed4d2b"/>
    <p:sldId xmlns:r="http://schemas.openxmlformats.org/officeDocument/2006/relationships" id="265" r:id="R4baf018b9eab4a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42b0dd76c643cd" /><Relationship Type="http://schemas.openxmlformats.org/officeDocument/2006/relationships/slideMaster" Target="/ppt/slideMasters/slideMaster1.xml" Id="R833ff67008e94457" /><Relationship Type="http://schemas.openxmlformats.org/officeDocument/2006/relationships/notesMaster" Target="/ppt/notesMasters/notesMaster1.xml" Id="R17def398df2a4e5d" /><Relationship Type="http://schemas.openxmlformats.org/officeDocument/2006/relationships/presProps" Target="/ppt/presProps.xml" Id="R89bf3318eadf43ba" /><Relationship Type="http://schemas.openxmlformats.org/officeDocument/2006/relationships/tableStyles" Target="/ppt/tableStyles.xml" Id="R1227e557c3414fc4" /><Relationship Type="http://schemas.openxmlformats.org/officeDocument/2006/relationships/slide" Target="/ppt/slides/slide1.xml" Id="Rfb124eb959774a3b" /><Relationship Type="http://schemas.openxmlformats.org/officeDocument/2006/relationships/slide" Target="/ppt/slides/slide2.xml" Id="R29dc2b65b8a4459e" /><Relationship Type="http://schemas.openxmlformats.org/officeDocument/2006/relationships/slide" Target="/ppt/slides/slide3.xml" Id="Rf287b17a45b2496b" /><Relationship Type="http://schemas.openxmlformats.org/officeDocument/2006/relationships/slide" Target="/ppt/slides/slide4.xml" Id="Rba41de5e00954b98" /><Relationship Type="http://schemas.openxmlformats.org/officeDocument/2006/relationships/slide" Target="/ppt/slides/slide5.xml" Id="R925ab21d11d24b95" /><Relationship Type="http://schemas.openxmlformats.org/officeDocument/2006/relationships/slide" Target="/ppt/slides/slide6.xml" Id="R86461ec09d2d4625" /><Relationship Type="http://schemas.openxmlformats.org/officeDocument/2006/relationships/slide" Target="/ppt/slides/slide7.xml" Id="Ree045bd9c21f481d" /><Relationship Type="http://schemas.openxmlformats.org/officeDocument/2006/relationships/slide" Target="/ppt/slides/slide8.xml" Id="Rcf5d9151d8a04883" /><Relationship Type="http://schemas.openxmlformats.org/officeDocument/2006/relationships/slide" Target="/ppt/slides/slide9.xml" Id="R126a707be3ed4d2b" /><Relationship Type="http://schemas.openxmlformats.org/officeDocument/2006/relationships/slide" Target="/ppt/slides/slide10.xml" Id="R4baf018b9eab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3cd24d3a6742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1b497645e84e2c" /><Relationship Type="http://schemas.openxmlformats.org/officeDocument/2006/relationships/notesMaster" Target="/ppt/notesMasters/notesMaster1.xml" Id="R1196fb638c9c46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188b2a294c4a29" /><Relationship Type="http://schemas.openxmlformats.org/officeDocument/2006/relationships/notesMaster" Target="/ppt/notesMasters/notesMaster1.xml" Id="Rc25839e1b60d4f4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aa2c702924eb8" /><Relationship Type="http://schemas.openxmlformats.org/officeDocument/2006/relationships/notesMaster" Target="/ppt/notesMasters/notesMaster1.xml" Id="R5224dbe941114b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216c566bc64cd9" /><Relationship Type="http://schemas.openxmlformats.org/officeDocument/2006/relationships/notesMaster" Target="/ppt/notesMasters/notesMaster1.xml" Id="R9bccc86c55504e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a4518618174b90" /><Relationship Type="http://schemas.openxmlformats.org/officeDocument/2006/relationships/notesMaster" Target="/ppt/notesMasters/notesMaster1.xml" Id="R1782d4ca14dd4f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7c8190a0364e88" /><Relationship Type="http://schemas.openxmlformats.org/officeDocument/2006/relationships/notesMaster" Target="/ppt/notesMasters/notesMaster1.xml" Id="Rb3cbaaf459ae40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130a407d164fc9" /><Relationship Type="http://schemas.openxmlformats.org/officeDocument/2006/relationships/notesMaster" Target="/ppt/notesMasters/notesMaster1.xml" Id="R892d9a7c62204c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fc0cfb11ca422c" /><Relationship Type="http://schemas.openxmlformats.org/officeDocument/2006/relationships/notesMaster" Target="/ppt/notesMasters/notesMaster1.xml" Id="R04aa252b39ec4b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0f03dfa51c4358" /><Relationship Type="http://schemas.openxmlformats.org/officeDocument/2006/relationships/notesMaster" Target="/ppt/notesMasters/notesMaster1.xml" Id="Rfc42203ffd644e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292855dec024e53" /><Relationship Type="http://schemas.openxmlformats.org/officeDocument/2006/relationships/notesMaster" Target="/ppt/notesMasters/notesMaster1.xml" Id="R31febe1db03d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MCA project and the Hospital360 database demonstration. The project combines PostgreSQL relational tables with MongoDB visit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Hospital360_Full_Code_From_Scratch.docx; Hospital360_MongoDB_Programs.docx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patient and doctor records into appointments, then show billing and pharmacy links. department_services is a catalogue table and has no foreign-key relationship to appointments in this supplied schema. MongoDB PatientRecords is a separate document store; IDs are copied by application code and do not auto-sync.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Hospital360_Full_Code_From_Scratch.docx; Hospital360_MongoDB_Programs.docx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keys and cardinalities shown. billing has a unique appointment_id, so at most one bill row is linked to an appointment in this schema. pharmacy permits multiple dispenses per appointment. department_services is independent in the supplied data. MongoDB IDs are a logical application-level connection, not a PostgreSQL foreign key.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Hospital360_Full_Code_From_Scratch.docx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table creation, keys and constraints. The project has six requested tables. The pharmacy and prescription contents are demonstration rows; the supplied SQL did not contain real pharmacy/prescription history. Values in original patient, doctor, appointment, billing and service data were retained.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Hospital360_Full_Code_From_Scratch.docx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index definitions and explain EXPLAIN (ANALYZE, BUFFERS). On a tiny sample PostgreSQL can prefer a sequential scan; do not claim an index improved runtime unless measured on representative data. The JSONB values are populated from linked, illustrative pharmacy demo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Hospital360_Full_Code_From_Scratch.docx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MongoDB Python document used in the programs. appointment_id and patient_id mirror PostgreSQL identifiers, while prescription is a nested array. The medicine/product examples are synthetic and must not be presented as real patient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Hospital360_MongoDB_Programs.docx; Hospital360_Full_Code_From_Scratch.docx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four steps. In a notebook use %pip install pymongo and Python code. Start the local MongoDB service before connecting. The notebook should use the Python insert_many program for the sample data; do not paste mongosh JavaScript into a Python cell. The connection string targets localhost port 27017 as in the provided programs.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Hospital360_MongoDB_Programs.docx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examples in the Stage 4 SQL file: atomic-a and atomic-b rollback, negative amount rejected by CHECK, READ COMMITTED visibility across sessions, and committed durable-demo row. The demo is safe to run after loading the project because it uses separate demo tables.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Hospital360_ACID_demo.sql; Hospital360_Monday_Demo_Guide.md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two pgAdmin Query Tool tabs connected to the same hospital360 database. Run Session A BEGIN and insert, leaving it uncommitted. In Session B try the same insert; it blocks. Commit A; B fails the composite primary-key conflict and must be rolled back. Verify one row and clean up the demo slot only. This is an isolated concurrency illustration, not a production appointment constraint.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Hospital360_ACID_demo.sql; Hospital360_Monday_Demo_Guide.md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Project title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f28ca759ae42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580b5cb7b4c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2bbf9e96d048b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511eedb7af41c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5c4dce75e47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5c90222feb44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9D185AD-09EA-46EE-8C14-59550FEC71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582EE2-374B-492D-ADDB-EF9B1050DE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14B3AE-158C-445F-B88A-6E5563653C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4E8E19-6F87-4569-B8E1-16746E3822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F74BEB7-B2F7-46C8-90D7-D34D9EFB0E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0832ED0-8C36-4E7D-B53B-40B6882B57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A59E0F7-E424-4A2A-B1A9-1C88E7CC79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092991C-A4BD-41CD-AFD9-4597A3BBB0E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7F89DB-6415-4985-8228-BC17F761CE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BA9F82-6852-469D-9D61-AE0E579912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33789de494986" /><Relationship Type="http://schemas.openxmlformats.org/officeDocument/2006/relationships/slideLayout" Target="/ppt/slideLayouts/slideLayout1.xml" Id="R367903b51014467f" /><Relationship Type="http://schemas.openxmlformats.org/officeDocument/2006/relationships/slideLayout" Target="/ppt/slideLayouts/slideLayout2.xml" Id="Rfec7ea5c25f14536" /><Relationship Type="http://schemas.openxmlformats.org/officeDocument/2006/relationships/slideLayout" Target="/ppt/slideLayouts/slideLayout3.xml" Id="R6dbbc62209274fdb" /><Relationship Type="http://schemas.openxmlformats.org/officeDocument/2006/relationships/slideLayout" Target="/ppt/slideLayouts/slideLayout4.xml" Id="R686df4eaa4634deb" /><Relationship Type="http://schemas.openxmlformats.org/officeDocument/2006/relationships/slideLayout" Target="/ppt/slideLayouts/slideLayout5.xml" Id="R33bd788ca1fa46c5" /><Relationship Type="http://schemas.openxmlformats.org/officeDocument/2006/relationships/slideLayout" Target="/ppt/slideLayouts/slideLayout6.xml" Id="Re7c2156f08f449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7903b51014467f"/>
    <p:sldLayoutId xmlns:r="http://schemas.openxmlformats.org/officeDocument/2006/relationships" id="2147483650" r:id="Rfec7ea5c25f14536"/>
    <p:sldLayoutId xmlns:r="http://schemas.openxmlformats.org/officeDocument/2006/relationships" id="2147483651" r:id="R6dbbc62209274fdb"/>
    <p:sldLayoutId xmlns:r="http://schemas.openxmlformats.org/officeDocument/2006/relationships" id="2147483652" r:id="R686df4eaa4634deb"/>
    <p:sldLayoutId xmlns:r="http://schemas.openxmlformats.org/officeDocument/2006/relationships" id="2147483653" r:id="R33bd788ca1fa46c5"/>
    <p:sldLayoutId xmlns:r="http://schemas.openxmlformats.org/officeDocument/2006/relationships" id="2147483654" r:id="Re7c2156f08f449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56fa6d0ee84748" /><Relationship Type="http://schemas.openxmlformats.org/officeDocument/2006/relationships/notesSlide" Target="/ppt/notesSlides/notesSlide1.xml" Id="Rfdbaabd066c945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cc654239784538" /><Relationship Type="http://schemas.openxmlformats.org/officeDocument/2006/relationships/notesSlide" Target="/ppt/notesSlides/notesSlide2.xml" Id="R76e072562bf6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37aca1fd94100" /><Relationship Type="http://schemas.openxmlformats.org/officeDocument/2006/relationships/notesSlide" Target="/ppt/notesSlides/notesSlide3.xml" Id="Re58f4b0071484e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51ee61e584326" /><Relationship Type="http://schemas.openxmlformats.org/officeDocument/2006/relationships/notesSlide" Target="/ppt/notesSlides/notesSlide4.xml" Id="R4642d32718d946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cc81c79e7d4641" /><Relationship Type="http://schemas.openxmlformats.org/officeDocument/2006/relationships/notesSlide" Target="/ppt/notesSlides/notesSlide5.xml" Id="Rdbc05b69de4b4b1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018e00b0564226" /><Relationship Type="http://schemas.openxmlformats.org/officeDocument/2006/relationships/notesSlide" Target="/ppt/notesSlides/notesSlide6.xml" Id="R627cfdb0effe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5a2d103204714" /><Relationship Type="http://schemas.openxmlformats.org/officeDocument/2006/relationships/notesSlide" Target="/ppt/notesSlides/notesSlide7.xml" Id="R5f6038aaaed549f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a21cb43e804d91" /><Relationship Type="http://schemas.openxmlformats.org/officeDocument/2006/relationships/notesSlide" Target="/ppt/notesSlides/notesSlide8.xml" Id="R4b25461d05a3462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44e16a01a4052" /><Relationship Type="http://schemas.openxmlformats.org/officeDocument/2006/relationships/notesSlide" Target="/ppt/notesSlides/notesSlide9.xml" Id="R36c2f659203348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670de56e7b43b1" /><Relationship Type="http://schemas.openxmlformats.org/officeDocument/2006/relationships/notesSlide" Target="/ppt/notesSlides/notesSlide10.xml" Id="R129ab25b679f4e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80E81-E0E5-4D7A-913C-FC8FF313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71550"/>
            <a:ext cx="762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07029-A41D-4390-8B63-FFCDF798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06680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78D7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78D7D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78D7D2"/>
                </a:solidFill>
                <a:latin typeface="Arial"/>
                <a:ea typeface="Arial"/>
                <a:cs typeface="Arial"/>
              </a:rPr>
              <a:t>MCA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9FB058-B6B7-4591-AA10-6333013C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6762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Database 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Distributed Database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3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Administration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BC0B82-7EAB-4F40-9EF9-00D2F083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0525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1FF85-BC5B-4306-9B92-AD981D8A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D9E5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D9E5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9E5F2"/>
                </a:solidFill>
                <a:latin typeface="Arial"/>
                <a:ea typeface="Arial"/>
                <a:cs typeface="Arial"/>
              </a:rPr>
              <a:t>Group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EE3CAE-714A-49E7-A059-42B56E08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00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A6B112-0610-4805-866D-90163589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5715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Hospital360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4BB04-0D66-4F63-9593-1796C7EE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525000" y="2333625"/>
            <a:ext cx="609600" cy="428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668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EB3AA-1680-4962-BA8B-78FF9DEE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25000" y="3524250"/>
            <a:ext cx="60960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668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A2787-E2C2-4D83-8BE0-B652C274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239125" y="3524250"/>
            <a:ext cx="571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668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BF57AB-08A6-416A-96F5-DD802FE5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39125" y="2381250"/>
            <a:ext cx="57150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B668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E203A-8E14-4A7E-B3E0-A69CBA61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6687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16A6A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CCD2E9-210D-4ED6-B4F2-33502787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90725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E9602-AEA7-4164-9E0B-B3CBF83C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59080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4169B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F2ADF-6E0D-48C4-B648-A1009720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990850"/>
            <a:ext cx="933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VISITS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EC391-7039-4090-8A23-A7B15D5E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D99A3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EB19F7-8954-4385-BCA5-355E90E3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29100"/>
            <a:ext cx="781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7421E5-ECC3-47A1-BFAD-ABC94BAD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80987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657"/>
          </a:solidFill>
          <a:ln xmlns:a="http://schemas.openxmlformats.org/drawingml/2006/main" w="28575">
            <a:solidFill>
              <a:srgbClr val="755EB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23961-DBF3-49BE-A669-99172A20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6858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784605-1114-4BA7-90F3-F2FC43E7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AFC4D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75" b="0">
                <a:solidFill>
                  <a:srgbClr val="AFC4D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4DB"/>
                </a:solidFill>
                <a:latin typeface="Arial"/>
                <a:ea typeface="Arial"/>
                <a:cs typeface="Arial"/>
              </a:rPr>
              <a:t>Connected hospital records</a:t>
            </a:r>
          </a:p>
        </p:txBody>
      </p:sp>
    </p:spTree>
    <p:extLst>
      <p:ext uri="{BB962C8B-B14F-4D97-AF65-F5344CB8AC3E}">
        <p14:creationId xmlns:p14="http://schemas.microsoft.com/office/powerpoint/2010/main" val="913947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18C215-8AC9-4E4D-B7CC-069374BC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BAA7-9174-483F-9D0F-D4DA5D38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Hospital360 system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0F381-7D05-4E78-8E22-1BCC8736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C5FEB-D1F5-443D-9115-59F52D4B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02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D6638C-07B4-427E-90E3-1FC54B86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Relational records support daily hospital operations; MongoDB stores flexible visit documents linked by IDs.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75E178-5393-4B2B-B82D-04DFF38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705100" y="2733675"/>
            <a:ext cx="1057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1A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D4A87-705D-4D49-9B80-F055EAE1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705100" y="3190875"/>
            <a:ext cx="1057275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1A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8CAA4A-6690-433F-B3CB-34B8A1B1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19850" y="2457450"/>
            <a:ext cx="1304925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1A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7BB94-4F62-4AB1-B7D1-9A1B4856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19850" y="3238500"/>
            <a:ext cx="1304925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891A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530DE-D5F3-443A-8DF0-93CB200F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52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081AA-0063-4E01-B28E-8CFC7AC7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EBFE14-CCEA-4417-AB8E-312E6A65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52675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C7C1D-90FB-4CFE-95E7-D19DEA2E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Patient identity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74309-BE74-4D43-9AF7-816111B1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81325"/>
            <a:ext cx="1685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patient_id · 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0542C-737E-44A7-8C7D-BEFFCBA2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1952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5ADD1-84F8-4034-ACCE-851EEA9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345E72-9D2E-4024-9DFE-E074009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doctors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23822-DE1C-4400-AA55-48516EC8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529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Care providers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57C75-546C-46D6-AA7E-B85BD3B6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685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169B2"/>
                </a:solidFill>
                <a:latin typeface="Arial"/>
                <a:ea typeface="Arial"/>
                <a:cs typeface="Arial"/>
              </a:rPr>
              <a:t>doctor_id · PK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8B5CAE-CE63-4E75-9BBA-6C1B60869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2714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EA9DE-15C7-49CA-9EE0-CFB15BCE8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95550"/>
            <a:ext cx="66675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953490-2CDA-46B9-8176-A73DDD58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098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AEC3C2-F7E4-470D-9367-98AA0BD7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9051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Visit and scheduling hub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A14AA8-C2B9-4A6B-B29F-9B690AF2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29025"/>
            <a:ext cx="2447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patient_id + doctor_id · FKs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5B567-7F19-4032-9696-0130B537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050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846607-E84D-4568-A8BA-1818A2EB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0500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107E3C-5AF4-443E-A3B3-31F329E0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A73A3-6AFD-42AC-B467-F1F35102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145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Charges and payment status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3067BD-1D49-4783-A84E-5997CE97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47950"/>
            <a:ext cx="182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9A35"/>
                </a:solidFill>
                <a:latin typeface="Arial"/>
                <a:ea typeface="Arial"/>
                <a:cs typeface="Arial"/>
              </a:rPr>
              <a:t>appointment_id · FK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41593B-3BF2-4AC1-9F01-58DD315A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05200"/>
            <a:ext cx="20955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7990F3-B672-4CB2-9773-4514E7F0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05200"/>
            <a:ext cx="66675" cy="990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487DC-40CF-4D28-BE00-FA888071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19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83248-6A6C-4C52-84B1-8262A2C8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147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Dispensed products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E12573-9725-4A66-B849-8EA837FE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48150"/>
            <a:ext cx="1828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8E69"/>
                </a:solidFill>
                <a:latin typeface="Arial"/>
                <a:ea typeface="Arial"/>
                <a:cs typeface="Arial"/>
              </a:rPr>
              <a:t>appointment_id · FK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4DF8E3C-F7A9-4945-B6F7-29B83147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81550"/>
            <a:ext cx="2714625" cy="866775"/>
          </a:xfrm>
          <a:prstGeom xmlns:a="http://schemas.openxmlformats.org/drawingml/2006/main" prst="roundRect">
            <a:avLst>
              <a:gd name="adj" fmla="val 131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90CCDE-AAD3-44F2-81FF-3112AF6A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81550"/>
            <a:ext cx="66675" cy="866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5E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77A5B6-23BE-4B5B-82E0-F6744F2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95850"/>
            <a:ext cx="2428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department_services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13FD9E-D0AA-4BD9-965E-B26C560B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1911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Service catalogue and prices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5E3A8E-EDFE-49BC-B319-22ED7FF1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00675"/>
            <a:ext cx="2447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55E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5E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EB0"/>
                </a:solidFill>
                <a:latin typeface="Arial"/>
                <a:ea typeface="Arial"/>
                <a:cs typeface="Arial"/>
              </a:rPr>
              <a:t>service_id · PK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DA9A75-2BB0-4D81-AA1A-8FC6E077F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95625"/>
            <a:ext cx="1543050" cy="1495425"/>
          </a:xfrm>
          <a:prstGeom xmlns:a="http://schemas.openxmlformats.org/drawingml/2006/main" prst="roundRect">
            <a:avLst>
              <a:gd name="adj" fmla="val 7643"/>
            </a:avLst>
          </a:prstGeom>
          <a:solidFill xmlns:a="http://schemas.openxmlformats.org/drawingml/2006/main">
            <a:srgbClr val="E9F6F4"/>
          </a:solidFill>
          <a:ln xmlns:a="http://schemas.openxmlformats.org/drawingml/2006/main" w="19050">
            <a:solidFill>
              <a:srgbClr val="8CCFC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1CD4ED-21D1-414F-A7D2-D1AEDC82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267075"/>
            <a:ext cx="1276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MongoDB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BA68FB-BDA3-45B7-9842-D478EF65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290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PatientRecords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35CEA4B-C874-49D4-A336-92AF7F1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943350"/>
            <a:ext cx="1238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Flexible visit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document + prescription[]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5A0642-456F-46C1-A385-85D52DB5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29375" y="3714750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6A1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EE40A9-4670-4AD8-A56A-EA2B8C69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29375" y="5095875"/>
            <a:ext cx="3648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6A1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C30AA8-7D04-4338-95BB-EAB225A3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77450" y="4591050"/>
            <a:ext cx="0" cy="504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6A1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F308C3-DE24-40A8-B0C4-620B83D4D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657725"/>
            <a:ext cx="24098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0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6A6A1"/>
                </a:solidFill>
                <a:latin typeface="Arial"/>
                <a:ea typeface="Arial"/>
                <a:cs typeface="Arial"/>
              </a:rPr>
              <a:t>patient_id + appointment_id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0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6A6A1"/>
                </a:solidFill>
                <a:latin typeface="Arial"/>
                <a:ea typeface="Arial"/>
                <a:cs typeface="Arial"/>
              </a:rPr>
              <a:t>carried by Python/PyMongo sync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BDEE615-7DB6-434A-894E-77B55810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479CA59-6F88-4C79-A3AA-AD9F82CC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241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MongoDB document store</a:t>
            </a:r>
          </a:p>
        </p:txBody>
      </p:sp>
    </p:spTree>
    <p:extLst>
      <p:ext uri="{BB962C8B-B14F-4D97-AF65-F5344CB8AC3E}">
        <p14:creationId xmlns:p14="http://schemas.microsoft.com/office/powerpoint/2010/main" val="1430559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0E5F8A-E783-4C48-ADC7-90565B0B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PROJECT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61B76-D9A4-4FBD-8BA5-EF98243C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Relational tables and key links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37C1E-CEAC-4353-A046-0D6C3742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D2773-630C-49F5-837B-EB4BB4EE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03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7DF586-7CDC-4792-AC85-E23AD8F1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715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Primary keys identify rows; foreign keys preserve the main patient, doctor, visit, billing and dispensing links.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EE1E4B-C292-427C-8A37-C73EE916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05125" y="3048000"/>
            <a:ext cx="1095375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78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D0D74-84FF-4CE2-B439-75F68A10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38750" y="2590800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789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CBF46A-ECDF-42A7-BBCF-18308476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96050" y="2476500"/>
            <a:ext cx="12954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78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B1338-7B40-451A-9B44-873E89B8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496050" y="3609975"/>
            <a:ext cx="129540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E789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076A3-BB09-4D7C-9281-F1A9AA20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38750" y="415290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A6A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4FA2D-1257-4984-9CAF-838A19968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43125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1A730A-1799-40A1-B82B-21DDD3D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96CCA7-9B16-47BB-A059-1A7A6292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patients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656156-99DD-45FA-906E-5DBF1012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patient_id · 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1FFBDD-CEE7-4E07-9616-218E193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18764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1 patient → many visits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C1369-8E96-46DB-A6B3-588DD652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714500"/>
            <a:ext cx="235267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713A8-A84E-4657-BF27-C69F7CFB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714500"/>
            <a:ext cx="6667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16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3718F-3C2A-41DE-9FF8-E226A96E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28800"/>
            <a:ext cx="20669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doctors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1055B8-A6D2-4126-8551-8A7A700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24075"/>
            <a:ext cx="2066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doctor_id · PK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095FA1-FA09-4C28-9274-3F8A3E8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343150"/>
            <a:ext cx="208597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169B2"/>
                </a:solidFill>
                <a:latin typeface="Arial"/>
                <a:ea typeface="Arial"/>
                <a:cs typeface="Arial"/>
              </a:rPr>
              <a:t>1 doctor → many visits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F21DBF-2152-48CA-A3AE-E18AE7F6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24955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7185E-9133-4836-81AF-5B8D1C18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66675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C90400-FF76-47E4-BC80-0642CC69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67050"/>
            <a:ext cx="2209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appointments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2D957-72E5-49EF-8684-E106C7A1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623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appointment_id · PK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CA2108-9471-4BE9-A8E2-124A97BD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05250"/>
            <a:ext cx="2228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patient_id + doctor_id · FK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BE5C05-DE4C-42AA-80BF-FBD78ABD2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9A074C-01C2-42F5-A47B-FFB7B0B5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000250"/>
            <a:ext cx="66675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5963E-7A35-4D38-88B6-746D99A3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billing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7990E7-4EE8-41DF-858E-F3B707309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098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bill_id · PK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9A34E-937B-4DE5-B767-BDD9FF81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1685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D99A35"/>
                </a:solidFill>
                <a:latin typeface="Arial"/>
                <a:ea typeface="Arial"/>
                <a:cs typeface="Arial"/>
              </a:rPr>
              <a:t>appointment_id · UNIQUE FK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6CA8C6-549E-4F1F-A66C-C4612CAA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1952625" cy="933450"/>
          </a:xfrm>
          <a:prstGeom xmlns:a="http://schemas.openxmlformats.org/drawingml/2006/main" prst="roundRect">
            <a:avLst>
              <a:gd name="adj" fmla="val 122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8447D0-9C85-47E3-9D69-A8947513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66675" cy="933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CC6C44-BA8E-429F-848F-958D7886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29050"/>
            <a:ext cx="1666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pharmacy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A3FAF9-133F-45C0-8523-93F5CF736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24325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dispense_id · PK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1B1242-D528-4ED7-B41A-BA0BDFA3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16859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C8E69"/>
                </a:solidFill>
                <a:latin typeface="Arial"/>
                <a:ea typeface="Arial"/>
                <a:cs typeface="Arial"/>
              </a:rPr>
              <a:t>appointment_id · FK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5E9AAC-EBEA-4C7F-8CFA-6D82B7AF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25336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C8FF6F-53B6-4118-811D-570255A5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66675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55EB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9FC1686-D868-4DD7-AE4C-E494FA72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33925"/>
            <a:ext cx="2247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department_services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A794AB-C88E-4A0F-979D-1A28F2E3C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2247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service_id · PK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15544C0-0EFA-4E57-9079-FCD86E9E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43525"/>
            <a:ext cx="2266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55EB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755EB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55EB0"/>
                </a:solidFill>
                <a:latin typeface="Arial"/>
                <a:ea typeface="Arial"/>
                <a:cs typeface="Arial"/>
              </a:rPr>
              <a:t>Independent service catalogue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952AE8-E7EA-4383-8E1F-C80216AC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76800"/>
            <a:ext cx="3476625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F6F4"/>
          </a:solidFill>
          <a:ln xmlns:a="http://schemas.openxmlformats.org/drawingml/2006/main" w="19050">
            <a:solidFill>
              <a:srgbClr val="8CCFC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73E97C-8761-43C2-8E8F-DFC55217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530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MongoDB · PatientRecords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A68B60-03DE-487F-B534-2C2248C8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2768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050" b="0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16A6A1"/>
                </a:solidFill>
                <a:latin typeface="Arial"/>
                <a:ea typeface="Arial"/>
                <a:cs typeface="Arial"/>
              </a:rPr>
              <a:t>Documents carry patient_id + appointment_id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06050C-A47D-40B5-BEB7-9342F31F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13397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Application-managed ID link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BA2DAC-182D-479E-B5F0-A5864BC9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No departments table was supplied; department_id remains an integer in department_services.</a:t>
            </a:r>
          </a:p>
        </p:txBody>
      </p:sp>
    </p:spTree>
    <p:extLst>
      <p:ext uri="{BB962C8B-B14F-4D97-AF65-F5344CB8AC3E}">
        <p14:creationId xmlns:p14="http://schemas.microsoft.com/office/powerpoint/2010/main" val="1094308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D6820-0482-400B-BB6D-939365F4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POSTGRESQL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81320-93C0-472E-B669-80F7BB2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PostgreSQL schema and relationships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BE266E-07DC-4074-AE0B-86C92185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56E2F-EBDA-466B-9D9C-6E4D13F3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04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D6239-BAC2-4677-8D79-B6FBDA3B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47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Define the structure before loading the supplied project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ED8CB-EE14-4BAA-A5C6-D9768E27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59055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EF4DB-1E48-4B3B-986D-E559C20C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548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CORE TABLE DEFINITIONS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495D36-0A4B-460A-BEAA-80294BA6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5525"/>
            <a:ext cx="5486400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CREATE TABLE appointments 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appointment_id SERIAL PRIMARY KEY,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patient_id INT REFERENCES patients(patient_id),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doctor_id INT REFERENCES doctors(doctor_id),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appointment_date TIMESTAMP NOT NULL,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status VARCHAR(20) CHECK (...),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prescription JSONB DEFAULT '[]'::jsonb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CREATE TABLE billing (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bill_id SERIAL PRIMARY KEY,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appointment_id INT UNIQUE REFERENCES appointments,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total_amount NUMERIC CHECK (total_amount &gt;= 0)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);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82DD9-77DB-45DA-A8D7-4C5D3B28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What the PostgreSQL code does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7A8CF-103F-4140-805B-5EC989DE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14575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B428E-1EB9-44FF-B505-39C59FF9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003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1  Create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DF820-B9CE-4045-9CE1-6EA0FEFD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2890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61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patients, doctors, appointments, billing, department_services, pharmacy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8C1F5-DC7E-4E41-A40B-F284EA64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0515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8AEC34-CAEA-4D49-99BD-32A951C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19087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169B2"/>
                </a:solidFill>
                <a:latin typeface="Arial"/>
                <a:ea typeface="Arial"/>
                <a:cs typeface="Arial"/>
              </a:rPr>
              <a:t>2  Define keys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51F6D8-D5B2-4ED6-9F5C-A13D7CED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19475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62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SERIAL primary keys identify rows; foreign keys connect visits, bills and pharmacy rows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6500F-1F54-4254-805E-3362BA9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95725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171CE1-E127-4DFC-B5C1-11F66D7D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814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A35"/>
                </a:solidFill>
                <a:latin typeface="Arial"/>
                <a:ea typeface="Arial"/>
                <a:cs typeface="Arial"/>
              </a:rPr>
              <a:t>3  Enforce valid data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07902-518C-42FB-B49C-32A89F1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1005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62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NOT NULL, CHECK, UNIQUE and JSONB array checks reject invalid values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4CF041-5CB7-4BC3-B71D-7296E24F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86300"/>
            <a:ext cx="4476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17CB6E-BCB6-4D47-BA60-DE009A2A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72025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C8E69"/>
                </a:solidFill>
                <a:latin typeface="Arial"/>
                <a:ea typeface="Arial"/>
                <a:cs typeface="Arial"/>
              </a:rPr>
              <a:t>4  Load records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75537-C4FB-45AD-BEBF-72DCC0D6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000625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262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INSERT statements load the preserved sample rows and demonstration pharmacy rows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223C5-83BC-44F2-A916-49D7B486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772150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appointments.prescription starts as an empty JSONB array; the script later fills it from linked pharmacy demo rows.</a:t>
            </a:r>
          </a:p>
        </p:txBody>
      </p:sp>
    </p:spTree>
    <p:extLst>
      <p:ext uri="{BB962C8B-B14F-4D97-AF65-F5344CB8AC3E}">
        <p14:creationId xmlns:p14="http://schemas.microsoft.com/office/powerpoint/2010/main" val="2070216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2EBDD-8204-4F6E-82D7-930B0ADA9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POSTGRESQL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CC2CE-9B6E-4E37-80F3-B23D80A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PostgreSQL data loading and query optimization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AF5C0-5800-4732-B2FA-B9141C5C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E7997-8E5A-4745-B25B-D103F802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05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A359B-B960-45F4-B5D3-39201772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71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The setup script loads rows, creates indexes for repeated lookups and demonstrates plan inspection.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53584-7697-4F13-8A3B-40A48020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2674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DA294-A221-4901-B928-7D7D9AAA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84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INDEX + QUERY PLAN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F38CE7-94EE-4947-B2D8-7019ED2D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5848350" cy="3076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CREATE INDEX idx_appointments_patient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ON appointments(patient_id);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EXPLAIN (ANALYZE, BUFFERS)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SELECT appointment_id, appointment_date, status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FROM appointments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WHERE patient_id = 1;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-- Other indexes: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-- appointments(doctor_id)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-- billing(patient_id)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-- pharmacy(appointment_id)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EC6360-1707-431D-8ADC-CF2B63D8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383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How to explain the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2FE8FA-9E54-44A7-9F2F-DECC1441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Indexes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A1935-CE69-47EE-9FD8-B01BE188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5717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Help repeated filtering and joins as tables grow.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E3E6C-D7A4-4F8F-80E9-745E2F81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1467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169B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169B2"/>
                </a:solidFill>
                <a:latin typeface="Arial"/>
                <a:ea typeface="Arial"/>
                <a:cs typeface="Arial"/>
              </a:rPr>
              <a:t>EXPLAIN ANALYZE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B4B36-7635-4F4B-A855-DF9A4D36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6232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Shows the actual execution plan and measured work for this run.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0EE769-FC9C-48B1-B5FF-33B5737B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D99A3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9A35"/>
                </a:solidFill>
                <a:latin typeface="Arial"/>
                <a:ea typeface="Arial"/>
                <a:cs typeface="Arial"/>
              </a:rPr>
              <a:t>Small sample caveat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14486-B60D-4CC2-81DD-44DC0B3A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5290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With ten appointments, PostgreSQL may choose a sequential scan; that can be the right plan.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51A594-14DE-4F53-8A0B-87470F88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95825"/>
            <a:ext cx="400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C8E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C8E69"/>
                </a:solidFill>
                <a:latin typeface="Arial"/>
                <a:ea typeface="Arial"/>
                <a:cs typeface="Arial"/>
              </a:rPr>
              <a:t>JSONB prescription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CF282-E20F-466E-B446-021643E1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An UPDATE aggregates pharmacy rows for each appointment after pharmacy is loaded.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3E9EA-5DC4-4B56-8B21-343268A5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00725"/>
            <a:ext cx="1074420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F0D2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2A13A-574B-4617-B9AE-F4FF1FC7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458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8056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805611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05611"/>
                </a:solidFill>
                <a:latin typeface="Arial"/>
                <a:ea typeface="Arial"/>
                <a:cs typeface="Arial"/>
              </a:rPr>
              <a:t>Do not claim a measured speedup from this small sample; use the plan to explain the optimizer’s choice.</a:t>
            </a:r>
          </a:p>
        </p:txBody>
      </p:sp>
    </p:spTree>
    <p:extLst>
      <p:ext uri="{BB962C8B-B14F-4D97-AF65-F5344CB8AC3E}">
        <p14:creationId xmlns:p14="http://schemas.microsoft.com/office/powerpoint/2010/main" val="8060523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39159-ECF7-4805-A10F-EAB46BAA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MONGODB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65599-1060-4D02-9E18-80925AF7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MongoDB visit document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0D6E8E-40A9-4DA7-B5A6-AAA61E85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48FB2-B576-4B4A-82BB-2BBD5D1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06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38F046-1EE5-4EB6-A9EC-9495E8F0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PatientRecords stores a flexible document per appointment, including a nested prescription array.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06934F-DCB2-4FC7-8D87-2570221E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619125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717A9-E531-469E-B7AF-2E7A59CC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577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PYTHON DOCUMENT EXAMPLE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33336-98F6-4153-9BB0-F16E5B5A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14575"/>
            <a:ext cx="5772150" cy="3267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{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"appointment_id":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"patient_id": 1,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"patient_name": "Arjun das",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"appointment_date": datetime(...),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"visit_reason": "Chest discomfort...",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"prescription": 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  {"medicine_name": "Paracetamol 500 mg tablet",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   "quantity": 10, "unit_price_inr": 1.50},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  {"medicine_name": "ORS sachet",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   "quantity": 2, "unit_price_inr": 20.00}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],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"record_source": "Hospital360 demonstration sample"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}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A803C-214B-4801-82B0-49B5B8D5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47850"/>
            <a:ext cx="423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Why a document model?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352FE3-AFE1-496F-AA98-24B0DF97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4143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One visit and its nested medicine/product items can be read together. Optional fields can vary between visit documents.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70733B-20DB-4E48-B7B6-785587DD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24225"/>
            <a:ext cx="417195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18DDCF-153D-46A0-B9EF-5E9BD12A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575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D4C51-66C6-431E-8988-B98BE138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429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Hospital360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A2B560-8FB8-4F2C-B41F-D17A193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7814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Collection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9B283-5F10-4348-9D2B-6356606B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43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PatientRecords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2D2DF-9116-4B89-8D56-47F5CBB1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91025"/>
            <a:ext cx="41719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F0D2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0B6B7E-9911-4F0E-A191-A2B79B3E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24375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8056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80561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05611"/>
                </a:solidFill>
                <a:latin typeface="Arial"/>
                <a:ea typeface="Arial"/>
                <a:cs typeface="Arial"/>
              </a:rPr>
              <a:t>Data 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E1C1DD-4C9D-437E-BF3A-9907BEB2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91075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684D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684D1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84D1E"/>
                </a:solidFill>
                <a:latin typeface="Arial"/>
                <a:ea typeface="Arial"/>
                <a:cs typeface="Arial"/>
              </a:rPr>
              <a:t>Prescription entries are illustrative pharmacy demo items, not actual prescriptions or treatment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2329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0A49AB-4B14-4203-A7EE-434C771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MONGODB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9B749-0FE1-4372-AC13-1CEF11931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Connect MongoDB from Jupyter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A9432-83A9-4C8F-BA51-CE529BBE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0BA6-C38D-4193-8F10-FFEC6CF4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07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465F3-8B78-40B4-A897-EB81F6CF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06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Use a Python notebook kernel with PyMongo; mongosh JavaScript files are not Python notebook cells.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7651C-FE53-4461-8D26-16DAB62C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2619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C8AE5-9AFD-429F-BA61-7A02C631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210CE-3634-4518-B0D1-0486488B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151B9-10FF-49FB-956C-CDA6E35D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716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Start MongoDB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FF44B5-5066-43F3-AA2D-E9F1D339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9077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Run the local MongoDB service first.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1AE03-C556-4467-A719-134AA52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2619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E5E33E-F8DF-4F41-84D9-B6BB714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6DA90-E09A-4377-B855-777B07D5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71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6ABE6-EC7E-48A5-91E9-7F33D21B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716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Install driver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DABBA-9114-465F-B4A4-CE024EF7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9077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Run %pip install pymongo in a notebook cell.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6798-80E8-44B7-96CD-674F4D73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9750"/>
            <a:ext cx="2619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D8211E-F14B-45D3-BC0A-05E3DEA6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15A8D-7A95-474B-BA33-B0C153689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71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D91BB0-B2F5-4A5F-8754-A049F6B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716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Connect + 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E9A06-5650-4DD9-8FD6-D706462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Create MongoClient and verify the server responds.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4C7528-D359-40D7-9644-E7F821F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809750"/>
            <a:ext cx="26193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937CB4-DF04-4248-8A37-350D6B8A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992B6E-EEE7-4034-A7D2-D3657E4E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D6649B-7E51-4F32-AEBB-9F89F513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971675"/>
            <a:ext cx="1866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Select data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0D69B-D4EB-4060-821C-1E96EDDB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9077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Open Hospital360 → PatientRecords and query or insert documents.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862AB3-BC62-4448-A119-E02EFAB5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71825"/>
            <a:ext cx="6858000" cy="2505075"/>
          </a:xfrm>
          <a:prstGeom xmlns:a="http://schemas.openxmlformats.org/drawingml/2006/main" prst="roundRect">
            <a:avLst>
              <a:gd name="adj" fmla="val 4563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87AEEF-5DCE-4347-B334-B6011944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43275"/>
            <a:ext cx="6438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NOTEBOOK CELL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77BC7C-C909-40A6-9F1D-09EF408A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643890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%pip install pymongo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import pymongo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client = pymongo.MongoClient("mongodb://localhost:27017/")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client.admin.command("ping")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records = client["Hospital360"]["PatientRecords"]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print(records.count_documents({}))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for doc in records.find({"patient_id": 1}, {"_id": 0}):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  print(doc)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client.close()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78E434-6478-4DDB-B2AF-AA59E17B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171825"/>
            <a:ext cx="3571875" cy="2505075"/>
          </a:xfrm>
          <a:prstGeom xmlns:a="http://schemas.openxmlformats.org/drawingml/2006/main" prst="roundRect">
            <a:avLst>
              <a:gd name="adj" fmla="val 4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58EF6-28EE-4D51-9FD6-C7885C29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Before you run 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4B0A27-018F-4616-AB77-F559EBE2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10000"/>
            <a:ext cx="31242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• Start the MongoDB server first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• Run the installation cell in the notebook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• Use Python/PyMongo code from MongoDB Programs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• For ten sample records, run the insert_many program before querying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69256-7A33-4ED0-B0CC-1C1CACC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4350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Connection string assumes MongoDB is running on this computer at port 27017.</a:t>
            </a:r>
          </a:p>
        </p:txBody>
      </p:sp>
    </p:spTree>
    <p:extLst>
      <p:ext uri="{BB962C8B-B14F-4D97-AF65-F5344CB8AC3E}">
        <p14:creationId xmlns:p14="http://schemas.microsoft.com/office/powerpoint/2010/main" val="21410397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64C6D1-DED0-4339-87D8-115C9189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TRANSACTIONS AND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DBC817-C7D1-4423-B6A8-DCF706AE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Transactions: the ACID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524A56-A892-4448-9215-84C76A0A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32EB27-C38A-4D47-AA79-B9B084EF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08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1CC34-306D-429C-9ABC-64B456D0D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A transaction groups related database changes into one reliable unit of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3CA2D-DD94-4E62-88B3-E7F0B9B5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E75FA-A740-46F5-86DA-FDE920CB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D2201-EC0E-4B81-A1A5-8871566D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4AAD4-DC8B-4361-93DA-C5E9424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24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Atomicity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288FDD-7257-4FFE-9701-A3E689D6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527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Both demo inserts happen together. ROLLBACK removes both.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DF649-E89F-4DEB-B3AA-08157D62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2CFEA-D587-41BB-B71B-77FE83EF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95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69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370E1-D985-40A5-96F2-819BB53E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0955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07EF0-4590-4315-9EC9-2053D7A8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12407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1D9C9B-7A3C-4B19-BBBA-A66B5DD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5270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CHECK (amount &gt;= 0) rejects a negative amount; valid constraints remain true.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8D35CE-2C37-48FF-8216-334B5BA3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6AF054-F88D-4285-B8D6-B601C6EE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C66B40-86D3-4525-AD6C-038D46ED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DFAF28-79ED-4769-865B-4A08BBBF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243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Isolation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D635BB-382C-4BF7-A7F1-DA7B28EA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With READ COMMITTED, Session B sees 500 until Session A commits 600.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BB622D-D5A7-4A0D-9D33-91D48179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57625"/>
            <a:ext cx="52387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09824-CFDE-4DE2-9A84-BBFB361E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95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8E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4FC138-5CFB-4975-A577-AE055996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09575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AC0711-A282-46E8-9C56-BEA9E608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124325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Durability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BE2B2C-2F60-46C2-B7DA-28F1A2C4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552950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COMMIT saves durable-demo; it remains queryable afterward.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46F19-BD4E-4E0E-B266-1D9D44F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Run Hospital360_ACID_demo.sql after the PostgreSQL setup; it uses separate demo tables and leaves supplied rows unchanged.</a:t>
            </a:r>
          </a:p>
        </p:txBody>
      </p:sp>
    </p:spTree>
    <p:extLst>
      <p:ext uri="{BB962C8B-B14F-4D97-AF65-F5344CB8AC3E}">
        <p14:creationId xmlns:p14="http://schemas.microsoft.com/office/powerpoint/2010/main" val="1974342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9FA307-7F24-4B82-9D94-9325E5F4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TRANSACTIONS AND CONCURRENCY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C7281-CF9B-42B5-963A-9376A96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Concurrency: prevent a double booking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C5F47-3CD8-4656-BC40-DC6EED12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B0BC1-968E-444B-A308-BFDD914C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10934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0000"/>
              </a:lnSpc>
              <a:buNone/>
              <a:defRPr sz="825" b="1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657D"/>
                </a:solidFill>
                <a:latin typeface="Arial"/>
                <a:ea typeface="Arial"/>
                <a:cs typeface="Arial"/>
              </a:rPr>
              <a:t>HOSPITAL360  •  09 /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8D4035-FEEE-4C29-AE99-C7477020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Two sessions compete for the same doctor and time; a composite primary key permits only one slot.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CA9D7-384A-473D-A4D1-560BE409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57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2C5B2D-7B1F-4484-A10F-ACBABFC6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812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1194F-2467-4557-BF05-BBCD2F7A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Session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320E7-6B44-4C07-9167-43B63EC1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BEGIN; INSERT doctor 1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2030-01-15 10:00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5D2015-B303-461D-B237-10A6E2A7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Leave uncommitted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F4C70-844C-4A1F-8F31-94A678BF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857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A2DA5-3535-43CB-A484-12997AFE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A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1930A2-50EA-4DE6-802A-D05A57ED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Session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2CEFDA-0C8A-4C85-B9DA-10295B9D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90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INSERT the same doctor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and time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C8ABF-9213-454D-8F2D-B18016C6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Waits for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7776B3-FD64-49D0-B761-B93A5ACC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81200"/>
            <a:ext cx="285750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02F54-2EC2-479D-A02F-8E4543A3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8120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69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48C69-2C20-481F-8DBB-1A3E57E4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444A17-BACB-4074-B920-08029F0B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908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COMMIT A → B gets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00" b="1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63C"/>
                </a:solidFill>
                <a:latin typeface="Arial"/>
                <a:ea typeface="Arial"/>
                <a:cs typeface="Arial"/>
              </a:rPr>
              <a:t>duplicate-key error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49D1FD-02C1-4584-9CAC-40C9B2C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5365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57D"/>
                </a:solidFill>
                <a:latin typeface="Arial"/>
                <a:ea typeface="Arial"/>
                <a:cs typeface="Arial"/>
              </a:rPr>
              <a:t>ROLLBACK 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2BE4BF-324D-4C10-A18A-AED2B6C9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431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37FFE1-6564-4661-80C0-B00051E4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4317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9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59B074-487D-48A9-ABC2-1327AEC1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6143625" cy="180022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022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715C59-DC27-4375-A299-B9AD486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86225"/>
            <a:ext cx="57245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73D5D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3D5D0"/>
                </a:solidFill>
                <a:latin typeface="Arial"/>
                <a:ea typeface="Arial"/>
                <a:cs typeface="Arial"/>
              </a:rPr>
              <a:t>DATABASE GUARANTEE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4163E5-042E-498C-B767-6BD0ED3E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57245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PRIMARY KEY (doctor_id, slot_start)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INSERT INTO acid_demo_appointment_slots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  (doctor_id, slot_start, booked_by)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F1F5F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F1F5F9"/>
                </a:solidFill>
                <a:latin typeface="Arial"/>
                <a:ea typeface="Arial"/>
                <a:cs typeface="Arial"/>
              </a:rPr>
              <a:t>VALUES (1, TIMESTAMP '2030-01-15 10:00', 'Session A');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599D70-384D-45E3-82C9-FD1BFDF3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14775"/>
            <a:ext cx="3914775" cy="1800225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9F6F4"/>
          </a:solidFill>
          <a:ln xmlns:a="http://schemas.openxmlformats.org/drawingml/2006/main" w="9525">
            <a:solidFill>
              <a:srgbClr val="8CCF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0017C6-F62E-4253-91B7-2E847C2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14800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2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23D"/>
                </a:solidFill>
                <a:latin typeface="Arial"/>
                <a:ea typeface="Arial"/>
                <a:cs typeface="Arial"/>
              </a:rPr>
              <a:t>Safe demonstration 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C74CF-3CEF-4942-998E-AF8D8391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52950"/>
            <a:ext cx="3467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17263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C"/>
                </a:solidFill>
                <a:latin typeface="Arial"/>
                <a:ea typeface="Arial"/>
                <a:cs typeface="Arial"/>
              </a:rPr>
              <a:t>Uses acid_demo_appointment_slots, a separate table linked to doctors. It does not add constraints to or modify appointments.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C79D2-9E0D-4F07-9C84-7A60E817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943600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6A6A1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6A6A1"/>
                </a:solidFill>
                <a:latin typeface="Arial"/>
                <a:ea typeface="Arial"/>
                <a:cs typeface="Arial"/>
              </a:rPr>
              <a:t>After the exercise, verify one Session A row and delete only the demo slot.</a:t>
            </a:r>
          </a:p>
        </p:txBody>
      </p:sp>
    </p:spTree>
    <p:extLst>
      <p:ext uri="{BB962C8B-B14F-4D97-AF65-F5344CB8AC3E}">
        <p14:creationId xmlns:p14="http://schemas.microsoft.com/office/powerpoint/2010/main" val="20205603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2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DABF2-F4A8-4C87-BC06-B4652FED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C32D9-8FF7-40F8-994A-06ABD468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5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8C8DC-6FC9-4CC5-8317-4CBD85F6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33775"/>
            <a:ext cx="2019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ADA93-AF78-4CA6-AE8B-013D3E89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7667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B7C9D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100" b="1">
                <a:solidFill>
                  <a:srgbClr val="B7C9D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7C9DC"/>
                </a:solidFill>
                <a:latin typeface="Arial"/>
                <a:ea typeface="Arial"/>
                <a:cs typeface="Arial"/>
              </a:rPr>
              <a:t>Hospital360</a:t>
            </a:r>
          </a:p>
        </p:txBody>
      </p:sp>
    </p:spTree>
    <p:extLst>
      <p:ext uri="{BB962C8B-B14F-4D97-AF65-F5344CB8AC3E}">
        <p14:creationId xmlns:p14="http://schemas.microsoft.com/office/powerpoint/2010/main" val="12493531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2026-10-11T10:12:00.7840000Z</dcterms:created>
  <dcterms:modified xsi:type="dcterms:W3CDTF">2026-10-11T10:12:00.7840000Z</dcterms:modified>
</coreProperties>
</file>